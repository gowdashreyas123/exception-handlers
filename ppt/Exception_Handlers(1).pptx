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24E35-3BCC-1895-E381-7A1B76940F00}" v="37" dt="2025-11-14T15:20:17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087A5-F4CE-4897-8130-EDF0D674620C}" type="datetimeFigureOut"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812DD-8C80-41D0-92B7-012D402B97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8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" Type="http://schemas.openxmlformats.org/officeDocument/2006/relationships/image" Target="../media/image8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9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41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94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41.png"/><Relationship Id="rId9" Type="http://schemas.openxmlformats.org/officeDocument/2006/relationships/image" Target="../media/image1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9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41.png"/><Relationship Id="rId9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100" y="609600"/>
            <a:ext cx="685800" cy="7048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984450"/>
            <a:ext cx="12192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0" y="4616351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4902101"/>
            <a:ext cx="12192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4616351"/>
            <a:ext cx="609600" cy="6096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09600" y="1917650"/>
            <a:ext cx="10972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600"/>
              </a:lnSpc>
            </a:pPr>
            <a:r>
              <a:rPr lang="en-US" sz="3600" kern="0" spc="72" dirty="0">
                <a:solidFill>
                  <a:srgbClr val="FFFFFF"/>
                </a:solidFill>
                <a:ea typeface="+mn-lt"/>
                <a:cs typeface="+mn-lt"/>
              </a:rPr>
              <a:t>Graph-Aligned Multi-Atlas fMRI Modeling for Depression Detection Using Pruned GCNs</a:t>
            </a:r>
            <a:endParaRPr lang="en-US" dirty="0"/>
          </a:p>
        </p:txBody>
      </p:sp>
      <p:sp>
        <p:nvSpPr>
          <p:cNvPr id="10" name="Text 1"/>
          <p:cNvSpPr/>
          <p:nvPr/>
        </p:nvSpPr>
        <p:spPr>
          <a:xfrm>
            <a:off x="-487680" y="3251150"/>
            <a:ext cx="13167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3E8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Classifying Depressed vs. Non-Depressed Patients Using fMRI Data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3934673" y="5981551"/>
            <a:ext cx="43225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kern="0" spc="30" dirty="0">
                <a:solidFill>
                  <a:srgbClr val="F3E8FF"/>
                </a:solidFill>
                <a:latin typeface="ui-sans-serif"/>
                <a:ea typeface="ui-sans-serif"/>
                <a:cs typeface="ui-sans-serif" pitchFamily="34" charset="-120"/>
              </a:rPr>
              <a:t>Team Name: The Exception Handlers</a:t>
            </a:r>
            <a:endParaRPr lang="en-US" sz="1500" dirty="0"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00200"/>
            <a:ext cx="112776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76600"/>
            <a:ext cx="3606701" cy="2286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9100" y="3505200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3276600"/>
            <a:ext cx="3606850" cy="2286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401" y="3505200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3276600"/>
            <a:ext cx="3606701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6038" y="3505200"/>
            <a:ext cx="390525" cy="3429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762000" y="1905000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374151"/>
                </a:solidFill>
                <a:ea typeface="+mn-lt"/>
                <a:cs typeface="+mn-lt"/>
              </a:rPr>
              <a:t>How can we accurately classify depressed patients versus healthy controls using resting-state fMRI data, given challenges like small sample size, high dimensionality, and variability in brain connectivity?"</a:t>
            </a:r>
            <a:endParaRPr lang="en-US" dirty="0"/>
          </a:p>
        </p:txBody>
      </p:sp>
      <p:sp>
        <p:nvSpPr>
          <p:cNvPr id="13" name="Text 2"/>
          <p:cNvSpPr/>
          <p:nvPr/>
        </p:nvSpPr>
        <p:spPr>
          <a:xfrm>
            <a:off x="685800" y="4038600"/>
            <a:ext cx="31495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 Atlas Resolutions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685800" y="46482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Different atlases use varying resolution standards, making direct comparison and integration of brain graphs difficult.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4517603" y="4038600"/>
            <a:ext cx="31566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Misaligned Brain Graphs</a:t>
            </a:r>
            <a:endParaRPr lang="en-US" sz="1500" dirty="0"/>
          </a:p>
        </p:txBody>
      </p:sp>
      <p:sp>
        <p:nvSpPr>
          <p:cNvPr id="16" name="Text 5"/>
          <p:cNvSpPr/>
          <p:nvPr/>
        </p:nvSpPr>
        <p:spPr>
          <a:xfrm>
            <a:off x="4521101" y="4381500"/>
            <a:ext cx="3149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Structural differences between subjects cause alignment issues, resulting in inaccurate connectivity mapping.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8654728" y="4038600"/>
            <a:ext cx="25529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Poor Generalization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8356550" y="43815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Models trained on one dataset often fail to generalize to new datasets due to domain-specific characteristics.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457200" y="62103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20" name="Text 9"/>
          <p:cNvSpPr/>
          <p:nvPr/>
        </p:nvSpPr>
        <p:spPr>
          <a:xfrm>
            <a:off x="10901660" y="62103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2 of 10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11277600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52700"/>
            <a:ext cx="5524500" cy="1714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828925"/>
            <a:ext cx="2476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552700"/>
            <a:ext cx="5524500" cy="1714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2828925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495800"/>
            <a:ext cx="5524500" cy="1485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772025"/>
            <a:ext cx="2476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4495800"/>
            <a:ext cx="552450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772025"/>
            <a:ext cx="285750" cy="2857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This Problem Matters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685800" y="1485900"/>
            <a:ext cx="10820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Addressing these challenges is crucial for advancing depression analysis using fMRI data. The limitations impact multiple critical aspects of neuroimaging research and clinical applications.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085850" y="2781300"/>
            <a:ext cx="560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Diagnosis Accuracy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1085850" y="3124200"/>
            <a:ext cx="46672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 atlas resolutions and misaligned brain graphs lead to incorrect connectivity measurements, reducing the accuracy of depression classification models in clinical settings.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6877050" y="27813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Robustness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6877050" y="3124200"/>
            <a:ext cx="4629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Poor generalization across datasets means models fail when applied to new data sources, limiting the practical utility of fMRI-based diagnostic tools in diverse clinical environments.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1085850" y="4724400"/>
            <a:ext cx="466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Scalability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1085850" y="5067300"/>
            <a:ext cx="466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Inconsistencies between studies hinder the ability to scale fMRI depression analysis to larger datasets and multi-center trials necessary for more robust scientific findings.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877050" y="47244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Consistency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877050" y="5067300"/>
            <a:ext cx="4629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Lack of unified analysis frameworks leads to inconsistent results across studies, impeding progress in understanding the neural correlates of depression.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457200" y="62865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109016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3 of 10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F29D2CBC-3793-7974-829F-5A8C6CFC6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49" y="0"/>
            <a:ext cx="12193490" cy="6858000"/>
          </a:xfrm>
          <a:prstGeom prst="rect">
            <a:avLst/>
          </a:prstGeom>
        </p:spPr>
      </p:pic>
      <p:pic>
        <p:nvPicPr>
          <p:cNvPr id="3" name="Picture 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5869A0B4-A739-CB7E-9D6D-7CEFE57A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" y="299357"/>
            <a:ext cx="12179882" cy="6858000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ED247BF-C789-B860-6D3C-A436BB822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07" y="298369"/>
            <a:ext cx="12192000" cy="650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61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5524500" cy="2209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859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16192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257300"/>
            <a:ext cx="5524500" cy="2209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4859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6063" y="161925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95700"/>
            <a:ext cx="5524500" cy="2209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9243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963" y="40576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695700"/>
            <a:ext cx="5524500" cy="2209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9243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0350" y="4057650"/>
            <a:ext cx="228600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730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Existing Challenges in Multi-Atlas fMRI Classification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409700" y="148590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Graph Misalignment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409700" y="1828800"/>
            <a:ext cx="4343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Brain graphs from different atlases exhibit structural misalignments due to variations in registration techniques and subject-specific anatomical differences, leading to incorrect connectivity mapping.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7162800" y="1485900"/>
            <a:ext cx="5212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 ROI Mapping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7162800" y="1828800"/>
            <a:ext cx="4343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Regions of interest (ROIs) are mapped differently across atlases, causing discrepancies in feature representation and making it difficult to compare or integrate results consistently.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1409700" y="3924300"/>
            <a:ext cx="5212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Lack of Unified Structure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1409700" y="4267200"/>
            <a:ext cx="4343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There is no standardized framework for organizing and integrating multi-atlas brain graphs, resulting in fragmented approaches and inconsistent methodologies across research groups.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7162800" y="3924300"/>
            <a:ext cx="5212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Poor Model Interpretability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7162800" y="4267200"/>
            <a:ext cx="4343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Existing models often function as "black boxes" with limited interpretability, hindering clinical acceptance and scientific understanding of the classification mechanisms.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457200" y="62103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10901660" y="62103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 of 10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140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04900"/>
            <a:ext cx="112776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65350"/>
            <a:ext cx="548640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46325"/>
            <a:ext cx="25717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65450"/>
            <a:ext cx="548640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4642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65550"/>
            <a:ext cx="548640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34652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965650"/>
            <a:ext cx="548640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2095500"/>
            <a:ext cx="5486400" cy="402580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209800"/>
            <a:ext cx="5257800" cy="3797201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Solution - Unified Pseudo Atlas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609600" y="12573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approach uses the </a:t>
            </a:r>
            <a:r>
              <a:rPr lang="en-US" sz="1350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Hungarian algorithm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align multi-atlas brain graphs, creating a unified representation for depression analysis.</a:t>
            </a:r>
            <a:endParaRPr lang="en-US" sz="1350" dirty="0"/>
          </a:p>
        </p:txBody>
      </p:sp>
      <p:sp>
        <p:nvSpPr>
          <p:cNvPr id="16" name="Text 2"/>
          <p:cNvSpPr/>
          <p:nvPr/>
        </p:nvSpPr>
        <p:spPr>
          <a:xfrm>
            <a:off x="942975" y="2679650"/>
            <a:ext cx="45306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Multi-Atlas Integration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942975" y="2908250"/>
            <a:ext cx="54367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Combines multiple brain atlases into a cohesive framework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914400" y="3479750"/>
            <a:ext cx="45333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Matrix Construction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914400" y="3708350"/>
            <a:ext cx="54399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alignment cost matrices based on node similarities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914400" y="4279850"/>
            <a:ext cx="46328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Hungarian Alignment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914400" y="4508450"/>
            <a:ext cx="55594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Optimally aligns brain graphs using the Hungarian algorithm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685800" y="5079950"/>
            <a:ext cx="40390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Representation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685800" y="5308550"/>
            <a:ext cx="40390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Generates unified matrices for classification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457200" y="6273701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25" name="Text 11"/>
          <p:cNvSpPr/>
          <p:nvPr/>
        </p:nvSpPr>
        <p:spPr>
          <a:xfrm>
            <a:off x="10901660" y="6273701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5 of 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85950"/>
            <a:ext cx="1480393" cy="1943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1771650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447" y="2047875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6156" y="2733675"/>
            <a:ext cx="1428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9993" y="1885950"/>
            <a:ext cx="1480393" cy="1943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5693" y="177165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7241" y="2047875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8949" y="2733675"/>
            <a:ext cx="14287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787" y="1885950"/>
            <a:ext cx="1480542" cy="1943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487" y="177165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1133" y="2047875"/>
            <a:ext cx="323850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1891" y="2733675"/>
            <a:ext cx="14287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5729" y="1885950"/>
            <a:ext cx="1480393" cy="1943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1429" y="177165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6314" y="2047875"/>
            <a:ext cx="219075" cy="285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4685" y="2733675"/>
            <a:ext cx="142875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8522" y="1885950"/>
            <a:ext cx="1480542" cy="1943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4222" y="177165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5918" y="2047875"/>
            <a:ext cx="285750" cy="2857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627" y="2733675"/>
            <a:ext cx="142875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1464" y="1885950"/>
            <a:ext cx="1480393" cy="1943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164" y="1771650"/>
            <a:ext cx="3048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18712" y="2047875"/>
            <a:ext cx="285750" cy="2857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0420" y="2733675"/>
            <a:ext cx="142875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54258" y="1885950"/>
            <a:ext cx="1480542" cy="19431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39958" y="177165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51654" y="2047875"/>
            <a:ext cx="285750" cy="2857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286250"/>
            <a:ext cx="11277600" cy="1066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493395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43400" y="493395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0" y="4933950"/>
            <a:ext cx="15240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730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 Architecture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342900" y="1771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2"/>
          <p:cNvSpPr/>
          <p:nvPr/>
        </p:nvSpPr>
        <p:spPr>
          <a:xfrm>
            <a:off x="371118" y="2457450"/>
            <a:ext cx="16527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38" name="Text 3"/>
          <p:cNvSpPr/>
          <p:nvPr/>
        </p:nvSpPr>
        <p:spPr>
          <a:xfrm>
            <a:off x="609600" y="2762250"/>
            <a:ext cx="1175593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normalization and noise reduction</a:t>
            </a:r>
            <a:endParaRPr lang="en-US" sz="1050" dirty="0"/>
          </a:p>
        </p:txBody>
      </p:sp>
      <p:sp>
        <p:nvSpPr>
          <p:cNvPr id="39" name="Text 4"/>
          <p:cNvSpPr/>
          <p:nvPr/>
        </p:nvSpPr>
        <p:spPr>
          <a:xfrm>
            <a:off x="1975693" y="1771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2242393" y="2457450"/>
            <a:ext cx="117559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ROI Extraction</a:t>
            </a:r>
            <a:endParaRPr lang="en-US" sz="1350" dirty="0"/>
          </a:p>
        </p:txBody>
      </p:sp>
      <p:sp>
        <p:nvSpPr>
          <p:cNvPr id="41" name="Text 6"/>
          <p:cNvSpPr/>
          <p:nvPr/>
        </p:nvSpPr>
        <p:spPr>
          <a:xfrm>
            <a:off x="2242393" y="3028950"/>
            <a:ext cx="117559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 of interest identification</a:t>
            </a:r>
            <a:endParaRPr lang="en-US" sz="1050" dirty="0"/>
          </a:p>
        </p:txBody>
      </p:sp>
      <p:sp>
        <p:nvSpPr>
          <p:cNvPr id="42" name="Text 7"/>
          <p:cNvSpPr/>
          <p:nvPr/>
        </p:nvSpPr>
        <p:spPr>
          <a:xfrm>
            <a:off x="3608487" y="1771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3875187" y="2457450"/>
            <a:ext cx="117574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Graph Generation</a:t>
            </a:r>
            <a:endParaRPr lang="en-US" sz="1350" dirty="0"/>
          </a:p>
        </p:txBody>
      </p:sp>
      <p:sp>
        <p:nvSpPr>
          <p:cNvPr id="44" name="Text 9"/>
          <p:cNvSpPr/>
          <p:nvPr/>
        </p:nvSpPr>
        <p:spPr>
          <a:xfrm>
            <a:off x="3875187" y="3028950"/>
            <a:ext cx="117574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Connectivity matrix creation</a:t>
            </a:r>
            <a:endParaRPr lang="en-US" sz="1050" dirty="0"/>
          </a:p>
        </p:txBody>
      </p:sp>
      <p:sp>
        <p:nvSpPr>
          <p:cNvPr id="45" name="Text 10"/>
          <p:cNvSpPr/>
          <p:nvPr/>
        </p:nvSpPr>
        <p:spPr>
          <a:xfrm>
            <a:off x="5241429" y="1771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11"/>
          <p:cNvSpPr/>
          <p:nvPr/>
        </p:nvSpPr>
        <p:spPr>
          <a:xfrm>
            <a:off x="5508129" y="2457450"/>
            <a:ext cx="117559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Matrices</a:t>
            </a:r>
            <a:endParaRPr lang="en-US" sz="1350" dirty="0"/>
          </a:p>
        </p:txBody>
      </p:sp>
      <p:sp>
        <p:nvSpPr>
          <p:cNvPr id="47" name="Text 12"/>
          <p:cNvSpPr/>
          <p:nvPr/>
        </p:nvSpPr>
        <p:spPr>
          <a:xfrm>
            <a:off x="5508129" y="3028950"/>
            <a:ext cx="117559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Similarity measurement calculation</a:t>
            </a:r>
            <a:endParaRPr lang="en-US" sz="1050" dirty="0"/>
          </a:p>
        </p:txBody>
      </p:sp>
      <p:sp>
        <p:nvSpPr>
          <p:cNvPr id="48" name="Text 13"/>
          <p:cNvSpPr/>
          <p:nvPr/>
        </p:nvSpPr>
        <p:spPr>
          <a:xfrm>
            <a:off x="6874222" y="1771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7140922" y="2457450"/>
            <a:ext cx="117574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Hungarian Alignment</a:t>
            </a:r>
            <a:endParaRPr lang="en-US" sz="1350" dirty="0"/>
          </a:p>
        </p:txBody>
      </p:sp>
      <p:sp>
        <p:nvSpPr>
          <p:cNvPr id="50" name="Text 15"/>
          <p:cNvSpPr/>
          <p:nvPr/>
        </p:nvSpPr>
        <p:spPr>
          <a:xfrm>
            <a:off x="7140922" y="3028950"/>
            <a:ext cx="117574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Graph matching optimization</a:t>
            </a:r>
            <a:endParaRPr lang="en-US" sz="1050" dirty="0"/>
          </a:p>
        </p:txBody>
      </p:sp>
      <p:sp>
        <p:nvSpPr>
          <p:cNvPr id="51" name="Text 16"/>
          <p:cNvSpPr/>
          <p:nvPr/>
        </p:nvSpPr>
        <p:spPr>
          <a:xfrm>
            <a:off x="8507164" y="1771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8773864" y="2457450"/>
            <a:ext cx="1175593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</a:t>
            </a:r>
            <a:endParaRPr lang="en-US" sz="1350" dirty="0"/>
          </a:p>
        </p:txBody>
      </p:sp>
      <p:sp>
        <p:nvSpPr>
          <p:cNvPr id="53" name="Text 18"/>
          <p:cNvSpPr/>
          <p:nvPr/>
        </p:nvSpPr>
        <p:spPr>
          <a:xfrm>
            <a:off x="8773864" y="3295650"/>
            <a:ext cx="117559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brain graph creation</a:t>
            </a:r>
            <a:endParaRPr lang="en-US" sz="1050" dirty="0"/>
          </a:p>
        </p:txBody>
      </p:sp>
      <p:sp>
        <p:nvSpPr>
          <p:cNvPr id="54" name="Text 19"/>
          <p:cNvSpPr/>
          <p:nvPr/>
        </p:nvSpPr>
        <p:spPr>
          <a:xfrm>
            <a:off x="10139958" y="1771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</a:t>
            </a:r>
            <a:endParaRPr lang="en-US" sz="1200" dirty="0"/>
          </a:p>
        </p:txBody>
      </p:sp>
      <p:sp>
        <p:nvSpPr>
          <p:cNvPr id="55" name="Text 20"/>
          <p:cNvSpPr/>
          <p:nvPr/>
        </p:nvSpPr>
        <p:spPr>
          <a:xfrm>
            <a:off x="10406658" y="2457450"/>
            <a:ext cx="117574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GNN Training</a:t>
            </a:r>
            <a:endParaRPr lang="en-US" sz="1350" dirty="0"/>
          </a:p>
        </p:txBody>
      </p:sp>
      <p:sp>
        <p:nvSpPr>
          <p:cNvPr id="56" name="Text 21"/>
          <p:cNvSpPr/>
          <p:nvPr/>
        </p:nvSpPr>
        <p:spPr>
          <a:xfrm>
            <a:off x="10406658" y="3028950"/>
            <a:ext cx="1175742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Graph neural network classification</a:t>
            </a:r>
            <a:endParaRPr lang="en-US" sz="1050" dirty="0"/>
          </a:p>
        </p:txBody>
      </p:sp>
      <p:sp>
        <p:nvSpPr>
          <p:cNvPr id="57" name="Text 22"/>
          <p:cNvSpPr/>
          <p:nvPr/>
        </p:nvSpPr>
        <p:spPr>
          <a:xfrm>
            <a:off x="685800" y="451485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 Benefits</a:t>
            </a:r>
            <a:endParaRPr lang="en-US" sz="1500" dirty="0"/>
          </a:p>
        </p:txBody>
      </p:sp>
      <p:sp>
        <p:nvSpPr>
          <p:cNvPr id="58" name="Text 23"/>
          <p:cNvSpPr/>
          <p:nvPr/>
        </p:nvSpPr>
        <p:spPr>
          <a:xfrm>
            <a:off x="914400" y="4895850"/>
            <a:ext cx="27333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alignment accuracy</a:t>
            </a:r>
            <a:endParaRPr lang="en-US" sz="1200" dirty="0"/>
          </a:p>
        </p:txBody>
      </p:sp>
      <p:sp>
        <p:nvSpPr>
          <p:cNvPr id="59" name="Text 24"/>
          <p:cNvSpPr/>
          <p:nvPr/>
        </p:nvSpPr>
        <p:spPr>
          <a:xfrm>
            <a:off x="4572000" y="4895850"/>
            <a:ext cx="33748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classification performance</a:t>
            </a:r>
            <a:endParaRPr lang="en-US" sz="1200" dirty="0"/>
          </a:p>
        </p:txBody>
      </p:sp>
      <p:sp>
        <p:nvSpPr>
          <p:cNvPr id="60" name="Text 25"/>
          <p:cNvSpPr/>
          <p:nvPr/>
        </p:nvSpPr>
        <p:spPr>
          <a:xfrm>
            <a:off x="8229600" y="4895850"/>
            <a:ext cx="34207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generalization across datasets</a:t>
            </a:r>
            <a:endParaRPr lang="en-US" sz="1200" dirty="0"/>
          </a:p>
        </p:txBody>
      </p:sp>
      <p:sp>
        <p:nvSpPr>
          <p:cNvPr id="61" name="Text 26"/>
          <p:cNvSpPr/>
          <p:nvPr/>
        </p:nvSpPr>
        <p:spPr>
          <a:xfrm>
            <a:off x="457200" y="62103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62" name="Text 27"/>
          <p:cNvSpPr/>
          <p:nvPr/>
        </p:nvSpPr>
        <p:spPr>
          <a:xfrm>
            <a:off x="10901660" y="62103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6 of 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00" y="2133600"/>
            <a:ext cx="1714500" cy="28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2133600"/>
            <a:ext cx="17145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700" y="2133600"/>
            <a:ext cx="1714500" cy="28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8413" y="3576638"/>
            <a:ext cx="28575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5913" y="3576638"/>
            <a:ext cx="28575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3412" y="3576638"/>
            <a:ext cx="28575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181100"/>
            <a:ext cx="3555950" cy="2209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9838" y="1409700"/>
            <a:ext cx="390525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3526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265747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29622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7950" y="1181100"/>
            <a:ext cx="3555950" cy="2209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4401" y="1409700"/>
            <a:ext cx="34290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6550" y="235267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6550" y="2657475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46550" y="296227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78701" y="1181100"/>
            <a:ext cx="3556099" cy="2209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42438" y="1409700"/>
            <a:ext cx="428625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07301" y="23526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07301" y="26574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07301" y="296227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16450" y="3771900"/>
            <a:ext cx="3759101" cy="2209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43600" y="4000500"/>
            <a:ext cx="304800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45050" y="4943475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45050" y="5248275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45050" y="5553075"/>
            <a:ext cx="1524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Overview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375925" y="1943100"/>
            <a:ext cx="3718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Interface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723900" y="2324100"/>
            <a:ext cx="3289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Data upload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762000" y="2628900"/>
            <a:ext cx="3947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Parameter selection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723900" y="2933700"/>
            <a:ext cx="3947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Results visualization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4236675" y="1943100"/>
            <a:ext cx="3718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Processing Engine</a:t>
            </a:r>
            <a:endParaRPr lang="en-US" sz="1500" dirty="0"/>
          </a:p>
        </p:txBody>
      </p:sp>
      <p:sp>
        <p:nvSpPr>
          <p:cNvPr id="36" name="Text 6"/>
          <p:cNvSpPr/>
          <p:nvPr/>
        </p:nvSpPr>
        <p:spPr>
          <a:xfrm>
            <a:off x="4584650" y="2324100"/>
            <a:ext cx="3947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Multi-atlas alignment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4603700" y="2628900"/>
            <a:ext cx="3947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Graph construction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4584650" y="2933700"/>
            <a:ext cx="3947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Feature extraction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8097411" y="1943100"/>
            <a:ext cx="37186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GNN Models (GCN)</a:t>
            </a:r>
            <a:endParaRPr lang="en-US" sz="1500" dirty="0"/>
          </a:p>
        </p:txBody>
      </p:sp>
      <p:sp>
        <p:nvSpPr>
          <p:cNvPr id="40" name="Text 10"/>
          <p:cNvSpPr/>
          <p:nvPr/>
        </p:nvSpPr>
        <p:spPr>
          <a:xfrm>
            <a:off x="8445401" y="2324100"/>
            <a:ext cx="39472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Graph neural networks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8445401" y="2628900"/>
            <a:ext cx="32893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Classification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8445401" y="2933700"/>
            <a:ext cx="39472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Pattern recognition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4114860" y="4533900"/>
            <a:ext cx="39622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Management</a:t>
            </a:r>
            <a:endParaRPr lang="en-US" sz="1500" dirty="0"/>
          </a:p>
        </p:txBody>
      </p:sp>
      <p:sp>
        <p:nvSpPr>
          <p:cNvPr id="44" name="Text 14"/>
          <p:cNvSpPr/>
          <p:nvPr/>
        </p:nvSpPr>
        <p:spPr>
          <a:xfrm>
            <a:off x="4483150" y="4914900"/>
            <a:ext cx="34924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Real-time updates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4483150" y="5219700"/>
            <a:ext cx="34924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Quality control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4483150" y="5524500"/>
            <a:ext cx="41908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Expansion capability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457200" y="62103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10901660" y="62103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7 of 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3606701" cy="2114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9542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1" y="1257300"/>
            <a:ext cx="3606850" cy="2114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1" y="1590675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7950" y="1257300"/>
            <a:ext cx="3606701" cy="2114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6550" y="1495425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600450"/>
            <a:ext cx="3606701" cy="2305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933825"/>
            <a:ext cx="3619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2501" y="3600450"/>
            <a:ext cx="3606850" cy="2305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1101" y="3933825"/>
            <a:ext cx="285750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7950" y="3600450"/>
            <a:ext cx="3606701" cy="2305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6550" y="3838575"/>
            <a:ext cx="285750" cy="2857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 and Capabilities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123950" y="1524000"/>
            <a:ext cx="29132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Multi-atlas Integration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685800" y="1981200"/>
            <a:ext cx="3149501" cy="1162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Seamlessly combines multiple brain atlases with varying resolutions into a unified framework for consistent analysis.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4959251" y="1485900"/>
            <a:ext cx="2711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Hungarian Graph Matching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4521101" y="2171700"/>
            <a:ext cx="3149650" cy="971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Implements the Hungarian algorithm to optimally align and match brain graphs, overcoming structural differences.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8794700" y="1524000"/>
            <a:ext cx="28494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Pseudo Atlas Creation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8356550" y="1981200"/>
            <a:ext cx="3149501" cy="1162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Generates a unified pseudo atlas that serves as a common reference framework for all brain graphs.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1200150" y="3829050"/>
            <a:ext cx="26351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Prune-GCN-based Classification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685800" y="4514850"/>
            <a:ext cx="3149501" cy="1162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Utilizes  Pruned Graph Covolutional Networks for improved classification accuracy of depressed vs. non-depressed patients.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4959251" y="3829050"/>
            <a:ext cx="2711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Interpretability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4521101" y="4514850"/>
            <a:ext cx="3149650" cy="1162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clear insights into brain connectivity patterns and features that contribute to classification decisions.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8794700" y="3867150"/>
            <a:ext cx="23560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Robustness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8356550" y="4324350"/>
            <a:ext cx="3149501" cy="1352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Demonstrates improved generalization across diverse datasets and subject populations.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457200" y="62103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30" name="Text 14"/>
          <p:cNvSpPr/>
          <p:nvPr/>
        </p:nvSpPr>
        <p:spPr>
          <a:xfrm>
            <a:off x="10901660" y="62103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8 of 10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1100"/>
            <a:ext cx="36067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21907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171700"/>
            <a:ext cx="3301901" cy="220444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1181100"/>
            <a:ext cx="3606850" cy="2286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4901" y="13335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901" y="2171700"/>
            <a:ext cx="3302050" cy="220444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1181100"/>
            <a:ext cx="36067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0350" y="1333500"/>
            <a:ext cx="2190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0350" y="2171700"/>
            <a:ext cx="3301901" cy="2204442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 Preview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904875" y="1333500"/>
            <a:ext cx="22274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Connectivity Graph</a:t>
            </a:r>
            <a:endParaRPr lang="en-US" sz="1350" dirty="0"/>
          </a:p>
        </p:txBody>
      </p:sp>
      <p:sp>
        <p:nvSpPr>
          <p:cNvPr id="15" name="Text 2"/>
          <p:cNvSpPr/>
          <p:nvPr/>
        </p:nvSpPr>
        <p:spPr>
          <a:xfrm>
            <a:off x="609600" y="1676400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Visualization of brain connectivity using unified pseudo atlas</a:t>
            </a:r>
            <a:endParaRPr lang="en-US" sz="1050" dirty="0"/>
          </a:p>
        </p:txBody>
      </p:sp>
      <p:sp>
        <p:nvSpPr>
          <p:cNvPr id="16" name="Text 3"/>
          <p:cNvSpPr/>
          <p:nvPr/>
        </p:nvSpPr>
        <p:spPr>
          <a:xfrm>
            <a:off x="609600" y="4452342"/>
            <a:ext cx="396228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Nodes represent ROIs, links represent connectivity</a:t>
            </a:r>
            <a:endParaRPr lang="en-US" sz="900" dirty="0"/>
          </a:p>
        </p:txBody>
      </p:sp>
      <p:sp>
        <p:nvSpPr>
          <p:cNvPr id="17" name="Text 4"/>
          <p:cNvSpPr/>
          <p:nvPr/>
        </p:nvSpPr>
        <p:spPr>
          <a:xfrm>
            <a:off x="4711601" y="1333500"/>
            <a:ext cx="18538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Atlas Alignment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4444901" y="1676400"/>
            <a:ext cx="3302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Demonstration of Hungarian algorithm for graph matching</a:t>
            </a:r>
            <a:endParaRPr lang="en-US" sz="1050" dirty="0"/>
          </a:p>
        </p:txBody>
      </p:sp>
      <p:sp>
        <p:nvSpPr>
          <p:cNvPr id="19" name="Text 6"/>
          <p:cNvSpPr/>
          <p:nvPr/>
        </p:nvSpPr>
        <p:spPr>
          <a:xfrm>
            <a:off x="4444901" y="4452342"/>
            <a:ext cx="39624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Iterative alignment to consensus atlas</a:t>
            </a:r>
            <a:endParaRPr lang="en-US" sz="900" dirty="0"/>
          </a:p>
        </p:txBody>
      </p:sp>
      <p:sp>
        <p:nvSpPr>
          <p:cNvPr id="20" name="Text 7"/>
          <p:cNvSpPr/>
          <p:nvPr/>
        </p:nvSpPr>
        <p:spPr>
          <a:xfrm>
            <a:off x="8575625" y="1333500"/>
            <a:ext cx="24756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Classification Results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8280350" y="1676400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Sample depression classification with GNN model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8280350" y="4452342"/>
            <a:ext cx="396228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accuracy with interpretability</a:t>
            </a:r>
            <a:endParaRPr lang="en-US" sz="900" dirty="0"/>
          </a:p>
        </p:txBody>
      </p:sp>
      <p:sp>
        <p:nvSpPr>
          <p:cNvPr id="23" name="Text 10"/>
          <p:cNvSpPr/>
          <p:nvPr/>
        </p:nvSpPr>
        <p:spPr>
          <a:xfrm>
            <a:off x="457200" y="62103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10901660" y="62103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9 of 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1100"/>
            <a:ext cx="5524500" cy="1790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47800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81100"/>
            <a:ext cx="5524500" cy="1790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447800"/>
            <a:ext cx="34290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200400"/>
            <a:ext cx="5524500" cy="1790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467100"/>
            <a:ext cx="257175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200400"/>
            <a:ext cx="5524500" cy="1790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467100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219700"/>
            <a:ext cx="11277600" cy="8382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Results and Impact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1181100" y="14097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Classification Accuracy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81100" y="1752600"/>
            <a:ext cx="4572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alignment will improve classification accuracy by providing consistent brain graph representations across datasets, leading to more reliable depression detection.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6934200" y="14097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Model Robustness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6934200" y="1752600"/>
            <a:ext cx="4572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approach will create models less susceptible to variations in imaging protocols and scanner types, improving reliability across different clinical settings.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1095375" y="3429000"/>
            <a:ext cx="5589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Clinical Interpretability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1095375" y="3771900"/>
            <a:ext cx="4657725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unified framework will provide clearer insights into depression-related brain network changes, enabling clinicians to better understand and explain diagnostic decisions.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6934200" y="34290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Cross-dataset Stability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6934200" y="3771900"/>
            <a:ext cx="4572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Researchers will benefit from consistent results across different datasets and institutions, promoting collaboration and accelerating scientific discovery.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609600" y="53721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Unified Pseudo Atlas approach bridges critical gaps in multi-atlas fMRI graph integration, with profound implications for clinical diagnosis and research consistency.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457200" y="6210300"/>
            <a:ext cx="47443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Pseudo Atlas for Multi-Atlas Brain Graph Integration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10816828" y="62103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10 of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24</cp:revision>
  <dcterms:created xsi:type="dcterms:W3CDTF">2025-11-14T14:25:33Z</dcterms:created>
  <dcterms:modified xsi:type="dcterms:W3CDTF">2025-11-14T15:20:27Z</dcterms:modified>
</cp:coreProperties>
</file>