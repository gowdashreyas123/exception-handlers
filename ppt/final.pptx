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1014FC7-7D1B-4F8D-B396-C7DF9CB219F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6EB6C83-CB4D-45EB-936A-A79C2902716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580413E3-32A6-4883-894D-C1E3ADE1242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17D22436-6A3E-4D3F-A7D6-C274726A4A6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EA88CC92-577C-47F5-90AB-0C00E89F4BA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1F1ADABD-9E17-4DB8-86A4-FDC053DA6A7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8959CC7D-C063-4269-B786-486821DE09C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E26BBF4B-8431-445C-9358-F78F0876AD5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87744241-21BD-4217-A649-A5DCCCE886D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3AC5374F-1B76-4333-9AE9-08465EAC768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42FD5700-3E83-4CEC-87B9-893C3A973E0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BCEEC76-A0A5-4652-AD94-7613E752BEB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440FF01-AE1C-4972-B05F-16340E55A6C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E957F67-5576-4BEA-9DFF-B59CC18B94B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E81D73D-1682-414B-BB0B-8339BA643FD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F86D4CB-4B39-4182-B87A-9F855AC7EF3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48111BA-443C-40BB-A16A-2AE3F52FCC0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77BE0CE-1691-489D-8C92-E316BE00ABF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0EC5E6E-ABA8-4EE1-95A4-8B27A0BF118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812CD9F-89AA-421F-BCFA-BED685CDB1B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A9DE056-CE67-4A94-9FDE-A2102477B8F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685EC3C-690A-41B0-9B0E-7746FFAC0AF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8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8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8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8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8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Interactive 3D Anatomical MRI View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7" name="TextBox 2"/>
          <p:cNvSpPr/>
          <p:nvPr/>
        </p:nvSpPr>
        <p:spPr>
          <a:xfrm>
            <a:off x="685800" y="1556280"/>
            <a:ext cx="752364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Displays T1-weighted MRI across sagittal, coronal, and axial planes.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Crosshair shows exact voxel used for anatomical inspection.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Ensures orientation and alignment before atlas mapping.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Critical for reliable ROI extraction for depression analysis.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8" name="Picture 3" descr="3fc03c27-e583-4fb4-a1bf-59c21ae08a07.png"/>
          <p:cNvPicPr/>
          <p:nvPr/>
        </p:nvPicPr>
        <p:blipFill>
          <a:blip r:embed="rId1"/>
          <a:stretch/>
        </p:blipFill>
        <p:spPr>
          <a:xfrm>
            <a:off x="3200400" y="2971800"/>
            <a:ext cx="4114440" cy="1714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Coronal View — Y-axis (Set 1)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0" name="TextBox 2"/>
          <p:cNvSpPr/>
          <p:nvPr/>
        </p:nvSpPr>
        <p:spPr>
          <a:xfrm>
            <a:off x="1170720" y="1556280"/>
            <a:ext cx="728748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Coronal slices from anterior to posterior brain areas.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Highlights hippocampus, amygdala, and cingulate cortex.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Used to verify structure before functional connectivity extraction.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Ensures accurate mapping for depression detection pipelines.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1" name="Picture 3" descr="70ef70b0-ab0a-4b2f-8887-b3f0412b4a3a.png"/>
          <p:cNvPicPr/>
          <p:nvPr/>
        </p:nvPicPr>
        <p:blipFill>
          <a:blip r:embed="rId1"/>
          <a:stretch/>
        </p:blipFill>
        <p:spPr>
          <a:xfrm>
            <a:off x="3200760" y="3181320"/>
            <a:ext cx="4114440" cy="933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Coronal View — Y-axis (Set 2)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3" name="TextBox 2"/>
          <p:cNvSpPr/>
          <p:nvPr/>
        </p:nvSpPr>
        <p:spPr>
          <a:xfrm rot="52200">
            <a:off x="1361880" y="1469520"/>
            <a:ext cx="691632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Additional coronal sweep showing deeper structural contrast.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Useful for QC of white/gray matter boundaries.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Helps confirm no rotation or slicing artifacts.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Supports high-quality Pseudo Atlas alignment.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4" name="Picture 3" descr="70ef70b0-ab0a-4b2f-8887-b3f0412b4a3a.png"/>
          <p:cNvPicPr/>
          <p:nvPr/>
        </p:nvPicPr>
        <p:blipFill>
          <a:blip r:embed="rId1"/>
          <a:stretch/>
        </p:blipFill>
        <p:spPr>
          <a:xfrm>
            <a:off x="3429000" y="3181320"/>
            <a:ext cx="4114440" cy="933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Sagittal View — X-axis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6" name="TextBox 2"/>
          <p:cNvSpPr/>
          <p:nvPr/>
        </p:nvSpPr>
        <p:spPr>
          <a:xfrm>
            <a:off x="916200" y="1828800"/>
            <a:ext cx="708480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Sagittal slices from left to right hemisphere.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Displays corpus callosum, frontal cortex, and midline structure.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Ensures complete anatomical coverage.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Required for accurate multi-atlas graph generation.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7" name="Picture 3" descr="77e8ee41-062b-4455-b7c2-773e505cf7b3.png"/>
          <p:cNvPicPr/>
          <p:nvPr/>
        </p:nvPicPr>
        <p:blipFill>
          <a:blip r:embed="rId1"/>
          <a:stretch/>
        </p:blipFill>
        <p:spPr>
          <a:xfrm>
            <a:off x="3429000" y="3429000"/>
            <a:ext cx="4114440" cy="622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Additional Coronal Panel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9" name="TextBox 2"/>
          <p:cNvSpPr/>
          <p:nvPr/>
        </p:nvSpPr>
        <p:spPr>
          <a:xfrm>
            <a:off x="1227240" y="1602000"/>
            <a:ext cx="700236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Another coronal panel confirming structural stability.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Used for contrast &amp; intensity validation.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Ensures consistency before computing functional connectivity.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0" name="Picture 3" descr="3fc03c27-e583-4fb4-a1bf-59c21ae08a07.png"/>
          <p:cNvPicPr/>
          <p:nvPr/>
        </p:nvPicPr>
        <p:blipFill>
          <a:blip r:embed="rId1"/>
          <a:stretch/>
        </p:blipFill>
        <p:spPr>
          <a:xfrm>
            <a:off x="2972160" y="2971800"/>
            <a:ext cx="4114440" cy="1714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BOLD Time Series — Schaefer ROI 10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2" name="TextBox 2"/>
          <p:cNvSpPr/>
          <p:nvPr/>
        </p:nvSpPr>
        <p:spPr>
          <a:xfrm>
            <a:off x="1832040" y="1784880"/>
            <a:ext cx="571176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Neural activation signal over time for ROI 10.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Used to compute functional connectivity edges.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Depression linked to altered signal variability.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Forms node features for GNN-based classification.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3" name="Picture 3" descr="7243f144-5dac-4d95-afc3-5580e5d4d3d8.png"/>
          <p:cNvPicPr/>
          <p:nvPr/>
        </p:nvPicPr>
        <p:blipFill>
          <a:blip r:embed="rId1"/>
          <a:stretch/>
        </p:blipFill>
        <p:spPr>
          <a:xfrm>
            <a:off x="2514960" y="2933280"/>
            <a:ext cx="4114440" cy="3238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2025-11-14T19:09:41Z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